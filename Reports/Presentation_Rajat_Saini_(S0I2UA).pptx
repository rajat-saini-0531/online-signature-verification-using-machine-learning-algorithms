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56" r:id="rId2"/>
    <p:sldId id="258" r:id="rId3"/>
    <p:sldId id="257" r:id="rId4"/>
    <p:sldId id="259" r:id="rId5"/>
    <p:sldId id="260" r:id="rId6"/>
    <p:sldId id="262" r:id="rId7"/>
    <p:sldId id="261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5CB73-2A46-49BB-84F8-AAB18E6515C0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79297-93C9-4C18-B001-8C7073DE0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010152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5CB73-2A46-49BB-84F8-AAB18E6515C0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79297-93C9-4C18-B001-8C7073DE0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482141"/>
      </p:ext>
    </p:extLst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5CB73-2A46-49BB-84F8-AAB18E6515C0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79297-93C9-4C18-B001-8C7073DE0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232721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5CB73-2A46-49BB-84F8-AAB18E6515C0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79297-93C9-4C18-B001-8C7073DE0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164484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5CB73-2A46-49BB-84F8-AAB18E6515C0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79297-93C9-4C18-B001-8C7073DE0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291986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5CB73-2A46-49BB-84F8-AAB18E6515C0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79297-93C9-4C18-B001-8C7073DE0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986241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5CB73-2A46-49BB-84F8-AAB18E6515C0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79297-93C9-4C18-B001-8C7073DE0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774575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5CB73-2A46-49BB-84F8-AAB18E6515C0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79297-93C9-4C18-B001-8C7073DE0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782031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79297-93C9-4C18-B001-8C7073DE09EB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5CB73-2A46-49BB-84F8-AAB18E6515C0}" type="datetimeFigureOut">
              <a:rPr lang="en-IN" smtClean="0"/>
              <a:t>26-05-2025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017916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5CB73-2A46-49BB-84F8-AAB18E6515C0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79297-93C9-4C18-B001-8C7073DE0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880540"/>
      </p:ext>
    </p:extLst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5CB73-2A46-49BB-84F8-AAB18E6515C0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79297-93C9-4C18-B001-8C7073DE09E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5982552"/>
      </p:ext>
    </p:extLst>
  </p:cSld>
  <p:clrMapOvr>
    <a:masterClrMapping/>
  </p:clrMapOvr>
  <p:transition spd="med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5CB73-2A46-49BB-84F8-AAB18E6515C0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79297-93C9-4C18-B001-8C7073DE0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242238"/>
      </p:ext>
    </p:extLst>
  </p:cSld>
  <p:clrMapOvr>
    <a:masterClrMapping/>
  </p:clrMapOvr>
  <p:transition spd="med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5CB73-2A46-49BB-84F8-AAB18E6515C0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79297-93C9-4C18-B001-8C7073DE09E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2315610"/>
      </p:ext>
    </p:extLst>
  </p:cSld>
  <p:clrMapOvr>
    <a:masterClrMapping/>
  </p:clrMapOvr>
  <p:transition spd="med"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5CB73-2A46-49BB-84F8-AAB18E6515C0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79297-93C9-4C18-B001-8C7073DE0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093711"/>
      </p:ext>
    </p:extLst>
  </p:cSld>
  <p:clrMapOvr>
    <a:masterClrMapping/>
  </p:clrMapOvr>
  <p:transition spd="med">
    <p:pull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5CB73-2A46-49BB-84F8-AAB18E6515C0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79297-93C9-4C18-B001-8C7073DE0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835765"/>
      </p:ext>
    </p:extLst>
  </p:cSld>
  <p:clrMapOvr>
    <a:masterClrMapping/>
  </p:clrMapOvr>
  <p:transition spd="med">
    <p:pull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5CB73-2A46-49BB-84F8-AAB18E6515C0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79297-93C9-4C18-B001-8C7073DE0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231255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55CB73-2A46-49BB-84F8-AAB18E6515C0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8179297-93C9-4C18-B001-8C7073DE0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281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</p:sldLayoutIdLst>
  <p:transition spd="med">
    <p:pull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734F8013-D1F5-7846-C813-84A9949B2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348605">
            <a:off x="531829" y="3307828"/>
            <a:ext cx="3234022" cy="3234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14F382-E30A-F6A0-FD55-985665D835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28600"/>
            <a:ext cx="9738359" cy="401189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Online Signature Verification using Machine Learning Algorithms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D6264F-44E1-1DCD-1B32-7E578D063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3980" y="4240493"/>
            <a:ext cx="4602481" cy="2617507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Rajat Saini (S0I2UA)</a:t>
            </a:r>
            <a:br>
              <a:rPr lang="en-US" sz="3200" dirty="0"/>
            </a:br>
            <a:r>
              <a:rPr lang="en-US" sz="3200" dirty="0"/>
              <a:t>Budapest University of Technology and Economics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71012418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B87FB-3692-8A47-6C30-DB2F3763D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dirty="0"/>
              <a:t>Problem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E56CD-62AA-2A85-8C97-3B64FED9B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140" y="1546574"/>
            <a:ext cx="9278648" cy="4943302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br>
              <a:rPr lang="en-US" sz="2800" dirty="0"/>
            </a:br>
            <a:r>
              <a:rPr lang="en-US" sz="2800" dirty="0"/>
              <a:t>Why Signature Verification?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Despite the rise of biometrics like facial or fingerprint recognition, </a:t>
            </a:r>
            <a:r>
              <a:rPr lang="en-US" sz="2800" b="1" dirty="0"/>
              <a:t>handwritten signatures remain legally important</a:t>
            </a:r>
            <a:r>
              <a:rPr lang="en-US" sz="2800" dirty="0"/>
              <a:t>—especially in banking, legal documents, and administrative systems.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Manual signature checks are prone to </a:t>
            </a:r>
            <a:r>
              <a:rPr lang="en-US" sz="2800" b="1" dirty="0"/>
              <a:t>errors </a:t>
            </a:r>
          </a:p>
          <a:p>
            <a:pPr marL="0" indent="0">
              <a:buNone/>
            </a:pPr>
            <a:r>
              <a:rPr lang="en-US" sz="2800" b="1" dirty="0"/>
              <a:t>   and forgery</a:t>
            </a:r>
            <a:r>
              <a:rPr lang="en-US" sz="2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ML provides an </a:t>
            </a:r>
            <a:r>
              <a:rPr lang="en-US" sz="2800" b="1" dirty="0"/>
              <a:t>automated, scalable</a:t>
            </a:r>
            <a:r>
              <a:rPr lang="en-US" sz="2800" dirty="0"/>
              <a:t> alternative.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Improves both </a:t>
            </a:r>
            <a:r>
              <a:rPr lang="en-US" sz="2800" b="1" dirty="0"/>
              <a:t>security and efficiency</a:t>
            </a:r>
            <a:r>
              <a:rPr lang="en-US" sz="2800" dirty="0"/>
              <a:t> in digital identity systems.</a:t>
            </a:r>
          </a:p>
          <a:p>
            <a:endParaRPr lang="en-IN" sz="2800" dirty="0"/>
          </a:p>
        </p:txBody>
      </p:sp>
      <p:pic>
        <p:nvPicPr>
          <p:cNvPr id="5128" name="Picture 8" descr="Bank-Grade Security">
            <a:extLst>
              <a:ext uri="{FF2B5EF4-FFF2-40B4-BE49-F238E27FC236}">
                <a16:creationId xmlns:a16="http://schemas.microsoft.com/office/drawing/2014/main" id="{60BED5DC-651B-0E4F-13B9-CE42AC8E5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98358">
            <a:off x="9470599" y="1635742"/>
            <a:ext cx="2371725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Wacom Ink SDK for verification ...">
            <a:extLst>
              <a:ext uri="{FF2B5EF4-FFF2-40B4-BE49-F238E27FC236}">
                <a16:creationId xmlns:a16="http://schemas.microsoft.com/office/drawing/2014/main" id="{E064FEB5-0797-1F6E-DBB6-8DF0E27E5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2920">
            <a:off x="9394398" y="4215338"/>
            <a:ext cx="2524125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9596167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DA6F2-CA0E-4B1B-8F8D-553B1C348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609600"/>
            <a:ext cx="8596668" cy="1320800"/>
          </a:xfrm>
        </p:spPr>
        <p:txBody>
          <a:bodyPr>
            <a:normAutofit/>
          </a:bodyPr>
          <a:lstStyle/>
          <a:p>
            <a:r>
              <a:rPr lang="en-IN" sz="4000" dirty="0"/>
              <a:t>Signature Datasets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6AED68-ED2C-5650-2330-7A58B7B710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6950566"/>
              </p:ext>
            </p:extLst>
          </p:nvPr>
        </p:nvGraphicFramePr>
        <p:xfrm>
          <a:off x="335280" y="1930400"/>
          <a:ext cx="9433560" cy="4531360"/>
        </p:xfrm>
        <a:graphic>
          <a:graphicData uri="http://schemas.openxmlformats.org/drawingml/2006/table">
            <a:tbl>
              <a:tblPr/>
              <a:tblGrid>
                <a:gridCol w="2358390">
                  <a:extLst>
                    <a:ext uri="{9D8B030D-6E8A-4147-A177-3AD203B41FA5}">
                      <a16:colId xmlns:a16="http://schemas.microsoft.com/office/drawing/2014/main" val="2719948750"/>
                    </a:ext>
                  </a:extLst>
                </a:gridCol>
                <a:gridCol w="2358390">
                  <a:extLst>
                    <a:ext uri="{9D8B030D-6E8A-4147-A177-3AD203B41FA5}">
                      <a16:colId xmlns:a16="http://schemas.microsoft.com/office/drawing/2014/main" val="593625681"/>
                    </a:ext>
                  </a:extLst>
                </a:gridCol>
                <a:gridCol w="2358390">
                  <a:extLst>
                    <a:ext uri="{9D8B030D-6E8A-4147-A177-3AD203B41FA5}">
                      <a16:colId xmlns:a16="http://schemas.microsoft.com/office/drawing/2014/main" val="2597907639"/>
                    </a:ext>
                  </a:extLst>
                </a:gridCol>
                <a:gridCol w="2358390">
                  <a:extLst>
                    <a:ext uri="{9D8B030D-6E8A-4147-A177-3AD203B41FA5}">
                      <a16:colId xmlns:a16="http://schemas.microsoft.com/office/drawing/2014/main" val="3280931719"/>
                    </a:ext>
                  </a:extLst>
                </a:gridCol>
              </a:tblGrid>
              <a:tr h="733453">
                <a:tc>
                  <a:txBody>
                    <a:bodyPr/>
                    <a:lstStyle/>
                    <a:p>
                      <a:r>
                        <a:rPr lang="en-IN" dirty="0">
                          <a:latin typeface="+mn-lt"/>
                        </a:rPr>
                        <a:t>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+mn-lt"/>
                        </a:rPr>
                        <a:t>Samples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+mn-lt"/>
                        </a:rPr>
                        <a:t>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+mn-lt"/>
                        </a:rPr>
                        <a:t>Notes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384923"/>
                  </a:ext>
                </a:extLst>
              </a:tr>
              <a:tr h="743514">
                <a:tc>
                  <a:txBody>
                    <a:bodyPr/>
                    <a:lstStyle/>
                    <a:p>
                      <a:r>
                        <a:rPr lang="en-IN">
                          <a:latin typeface="+mn-lt"/>
                        </a:rPr>
                        <a:t>MCYT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+mn-lt"/>
                        </a:rPr>
                        <a:t>X, Y, P, al, </a:t>
                      </a:r>
                      <a:r>
                        <a:rPr lang="es-ES" dirty="0" err="1">
                          <a:latin typeface="+mn-lt"/>
                        </a:rPr>
                        <a:t>az</a:t>
                      </a:r>
                      <a:endParaRPr lang="es-ES" dirty="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Largest; averaged per </a:t>
                      </a:r>
                      <a:r>
                        <a:rPr lang="en-IN" dirty="0" err="1"/>
                        <a:t>SigID</a:t>
                      </a:r>
                      <a:endParaRPr lang="en-IN" dirty="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800921"/>
                  </a:ext>
                </a:extLst>
              </a:tr>
              <a:tr h="743514">
                <a:tc>
                  <a:txBody>
                    <a:bodyPr/>
                    <a:lstStyle/>
                    <a:p>
                      <a:r>
                        <a:rPr lang="en-IN">
                          <a:latin typeface="+mn-lt"/>
                        </a:rPr>
                        <a:t>SVC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5,120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>
                          <a:latin typeface="+mn-lt"/>
                        </a:rPr>
                        <a:t>X, Y, P, al, az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Clean format; ready to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9725123"/>
                  </a:ext>
                </a:extLst>
              </a:tr>
              <a:tr h="733453">
                <a:tc>
                  <a:txBody>
                    <a:bodyPr/>
                    <a:lstStyle/>
                    <a:p>
                      <a:r>
                        <a:rPr lang="en-IN">
                          <a:latin typeface="+mn-lt"/>
                        </a:rPr>
                        <a:t>Chinese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4,124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+mn-lt"/>
                        </a:rPr>
                        <a:t>X, Y, 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+mn-lt"/>
                        </a:rPr>
                        <a:t>No orientation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610911"/>
                  </a:ext>
                </a:extLst>
              </a:tr>
              <a:tr h="733453">
                <a:tc>
                  <a:txBody>
                    <a:bodyPr/>
                    <a:lstStyle/>
                    <a:p>
                      <a:r>
                        <a:rPr lang="en-IN">
                          <a:latin typeface="+mn-lt"/>
                        </a:rPr>
                        <a:t>Dutch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7,056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+mn-lt"/>
                        </a:rPr>
                        <a:t>X, Y, 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+mn-lt"/>
                        </a:rPr>
                        <a:t>Pressure focus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182324"/>
                  </a:ext>
                </a:extLst>
              </a:tr>
              <a:tr h="843973">
                <a:tc>
                  <a:txBody>
                    <a:bodyPr/>
                    <a:lstStyle/>
                    <a:p>
                      <a:r>
                        <a:rPr lang="en-IN">
                          <a:latin typeface="+mn-lt"/>
                        </a:rPr>
                        <a:t>German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1,778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+mn-lt"/>
                        </a:rPr>
                        <a:t>X, Y, 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Smallest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517526"/>
                  </a:ext>
                </a:extLst>
              </a:tr>
            </a:tbl>
          </a:graphicData>
        </a:graphic>
      </p:graphicFrame>
      <p:pic>
        <p:nvPicPr>
          <p:cNvPr id="1030" name="Picture 6" descr="Off-line signature verification using ...">
            <a:extLst>
              <a:ext uri="{FF2B5EF4-FFF2-40B4-BE49-F238E27FC236}">
                <a16:creationId xmlns:a16="http://schemas.microsoft.com/office/drawing/2014/main" id="{22C66E82-3D3E-C88E-EAFD-A56CAE2C1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6796" y="4100760"/>
            <a:ext cx="2320062" cy="251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ignature Verification: Man vs. Machine">
            <a:extLst>
              <a:ext uri="{FF2B5EF4-FFF2-40B4-BE49-F238E27FC236}">
                <a16:creationId xmlns:a16="http://schemas.microsoft.com/office/drawing/2014/main" id="{EA76D005-7D07-586E-B26F-75E32F79C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99367">
            <a:off x="8468678" y="594360"/>
            <a:ext cx="3557483" cy="132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9448920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03EB4-B481-7BA5-A825-18FE42F95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Comparison: ML Models &amp;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43AB3-D87C-1ED2-32F6-9AABDD0B0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2" y="1930400"/>
            <a:ext cx="8596668" cy="4626609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IN" sz="2800" b="1" dirty="0"/>
              <a:t>Models: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Random Forest  – Best overall-</a:t>
            </a:r>
            <a:r>
              <a:rPr lang="en-US" sz="2800" dirty="0"/>
              <a:t>it gave </a:t>
            </a:r>
            <a:r>
              <a:rPr lang="en-US" sz="2800" b="1" dirty="0"/>
              <a:t>high accuracy</a:t>
            </a:r>
            <a:r>
              <a:rPr lang="en-US" sz="2800" dirty="0"/>
              <a:t> and </a:t>
            </a:r>
            <a:r>
              <a:rPr lang="en-US" sz="2800" b="1" dirty="0"/>
              <a:t>balanced error rates</a:t>
            </a:r>
            <a:r>
              <a:rPr lang="en-US" sz="2800" dirty="0"/>
              <a:t> across all datasets.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K-Nearest </a:t>
            </a:r>
            <a:r>
              <a:rPr lang="en-IN" sz="2800" dirty="0" err="1"/>
              <a:t>Neighbors</a:t>
            </a:r>
            <a:r>
              <a:rPr lang="en-IN" sz="2800" dirty="0"/>
              <a:t>  – Simple but slower on larger datasets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Support Vector Machine  – High precision </a:t>
            </a:r>
            <a:r>
              <a:rPr lang="en-US" sz="2800" dirty="0"/>
              <a:t>only on the Chinese dataset</a:t>
            </a:r>
            <a:r>
              <a:rPr lang="en-IN" sz="2800" dirty="0"/>
              <a:t>, higher FRR-</a:t>
            </a:r>
            <a:r>
              <a:rPr lang="en-US" sz="2800" dirty="0"/>
              <a:t>which means it </a:t>
            </a:r>
            <a:r>
              <a:rPr lang="en-US" sz="2800" b="1" dirty="0"/>
              <a:t>rejected more genuine signatures</a:t>
            </a:r>
            <a:r>
              <a:rPr lang="en-US" sz="2800" dirty="0"/>
              <a:t> by mistake.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endParaRPr lang="en-IN" sz="2800" dirty="0"/>
          </a:p>
          <a:p>
            <a:r>
              <a:rPr lang="en-IN" sz="2800" b="1" dirty="0"/>
              <a:t>Metrics Used:</a:t>
            </a:r>
            <a:br>
              <a:rPr lang="en-IN" sz="2800" dirty="0"/>
            </a:br>
            <a:r>
              <a:rPr lang="en-IN" sz="2800" dirty="0"/>
              <a:t>Accuracy, Precision, F1 Score, FAR, FRR, EER</a:t>
            </a:r>
          </a:p>
          <a:p>
            <a:endParaRPr lang="en-IN" sz="2800" dirty="0"/>
          </a:p>
        </p:txBody>
      </p:sp>
      <p:pic>
        <p:nvPicPr>
          <p:cNvPr id="6146" name="Picture 2" descr="Random Forest Algorithm in Machine Learning">
            <a:extLst>
              <a:ext uri="{FF2B5EF4-FFF2-40B4-BE49-F238E27FC236}">
                <a16:creationId xmlns:a16="http://schemas.microsoft.com/office/drawing/2014/main" id="{D79E85E5-1D15-B013-61BD-8D92151A9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354681">
            <a:off x="9167845" y="242318"/>
            <a:ext cx="222885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K Nearest Neighbours — Introduction to ...">
            <a:extLst>
              <a:ext uri="{FF2B5EF4-FFF2-40B4-BE49-F238E27FC236}">
                <a16:creationId xmlns:a16="http://schemas.microsoft.com/office/drawing/2014/main" id="{395117BF-3B23-78B0-B413-2E458B5E3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7400" y="2428875"/>
            <a:ext cx="2286000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Introduction to Support Vector Machines (SVMs) | Machine Learning Archive  MACHINE LEARNING">
            <a:extLst>
              <a:ext uri="{FF2B5EF4-FFF2-40B4-BE49-F238E27FC236}">
                <a16:creationId xmlns:a16="http://schemas.microsoft.com/office/drawing/2014/main" id="{AF75FE25-1F02-4E44-243C-4CB936EE3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5910" y="4670106"/>
            <a:ext cx="3302887" cy="1886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6159345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9679D-E73E-72D7-1293-E351F3682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414" y="256858"/>
            <a:ext cx="8596668" cy="1320800"/>
          </a:xfrm>
        </p:spPr>
        <p:txBody>
          <a:bodyPr>
            <a:normAutofit/>
          </a:bodyPr>
          <a:lstStyle/>
          <a:p>
            <a:r>
              <a:rPr lang="en-IN" sz="5400" dirty="0"/>
              <a:t>Results &amp; Observations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F095AF-0AD3-5417-F61B-6E54EDD894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9923" y="1451273"/>
            <a:ext cx="9358437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800" dirty="0"/>
              <a:t>93% accuracy on MCYT with </a:t>
            </a:r>
            <a:r>
              <a:rPr lang="en-US" sz="2800" b="1" dirty="0"/>
              <a:t>0% FRR</a:t>
            </a:r>
            <a:r>
              <a:rPr lang="en-US" sz="2800" dirty="0"/>
              <a:t> — most reliable overall.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2800" b="1" dirty="0">
                <a:solidFill>
                  <a:schemeClr val="tx1"/>
                </a:solidFill>
              </a:rPr>
              <a:t>K-Nearest </a:t>
            </a:r>
            <a:r>
              <a:rPr lang="en-IN" sz="2800" b="1" dirty="0" err="1">
                <a:solidFill>
                  <a:schemeClr val="tx1"/>
                </a:solidFill>
              </a:rPr>
              <a:t>Neighbors</a:t>
            </a:r>
            <a:r>
              <a:rPr lang="en-IN" sz="2800" b="1" dirty="0">
                <a:solidFill>
                  <a:schemeClr val="tx1"/>
                </a:solidFill>
              </a:rPr>
              <a:t>: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800" dirty="0"/>
              <a:t>Performed best on the </a:t>
            </a:r>
            <a:r>
              <a:rPr lang="en-US" sz="2800" b="1" dirty="0"/>
              <a:t>Dutch dataset</a:t>
            </a:r>
            <a:r>
              <a:rPr lang="en-US" sz="2800" dirty="0"/>
              <a:t>, with good balance of FAR and FRR.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SVM: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800" dirty="0"/>
              <a:t>Achieved </a:t>
            </a:r>
            <a:r>
              <a:rPr lang="en-US" sz="2800" b="1" dirty="0"/>
              <a:t>highest precision on Chinese dataset</a:t>
            </a:r>
            <a:r>
              <a:rPr lang="en-US" sz="2800" dirty="0"/>
              <a:t>, but had higher FRR on others.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German Dataset: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800" dirty="0"/>
              <a:t>Most challenging — all models had </a:t>
            </a:r>
            <a:r>
              <a:rPr lang="en-US" sz="2800" b="1" dirty="0"/>
              <a:t>lower accuracy and higher error rates</a:t>
            </a:r>
            <a:r>
              <a:rPr lang="en-US" sz="2800" dirty="0"/>
              <a:t> due to fewer samples and missing features.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CFDF36-36F8-5DB3-148A-567B6ADAB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3731" y="1577658"/>
            <a:ext cx="2313854" cy="1737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5F6FC0-46DA-DFCE-936A-A631A16FB9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7257">
            <a:off x="9253545" y="4585606"/>
            <a:ext cx="2674756" cy="20060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5380643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C8A1D11-C01C-40B3-CC55-7AE5102B5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" y="516471"/>
            <a:ext cx="2963311" cy="58250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23230B-97EC-149D-FA0B-30DC523A00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045" y="1877912"/>
            <a:ext cx="3619500" cy="2717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29A9A8-8245-1E07-BEED-DDE0887383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320" y="1877912"/>
            <a:ext cx="3855720" cy="28879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973853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2E964-935C-A6FC-2B32-2DD35CD1F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55502"/>
            <a:ext cx="8596668" cy="1320800"/>
          </a:xfrm>
        </p:spPr>
        <p:txBody>
          <a:bodyPr>
            <a:normAutofit/>
          </a:bodyPr>
          <a:lstStyle/>
          <a:p>
            <a:r>
              <a:rPr lang="en-IN" sz="4400" dirty="0"/>
              <a:t>Conclusion &amp; Next Steps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9E8CAD-174B-541B-1E6E-5704F8376D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1480" y="1354456"/>
            <a:ext cx="11064240" cy="5591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 models can verify signatures accurately across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outperformed other models - </a:t>
            </a:r>
            <a:r>
              <a:rPr lang="en-US" sz="2800" dirty="0">
                <a:solidFill>
                  <a:schemeClr val="tx1"/>
                </a:solidFill>
              </a:rPr>
              <a:t>Random Forest had high accuracy and low errors, making it the most reliable model overall.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PCA + confusion matrix = effective evaluation.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2400" b="1" dirty="0"/>
              <a:t>Future Work: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Add time-series features (e.g., velocity)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Real-time verification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Try deep learning (CNN/RNN)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81" name="Picture 9" descr="Multilingual Offline Signature Verification Based on Improved Inverse  Discriminator Network">
            <a:extLst>
              <a:ext uri="{FF2B5EF4-FFF2-40B4-BE49-F238E27FC236}">
                <a16:creationId xmlns:a16="http://schemas.microsoft.com/office/drawing/2014/main" id="{363739DF-A74F-BAEE-02AB-83DD15586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073" y="5181698"/>
            <a:ext cx="5159585" cy="132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1110406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066F95-79E5-0348-CE73-39EEB6EA1C87}"/>
              </a:ext>
            </a:extLst>
          </p:cNvPr>
          <p:cNvSpPr txBox="1"/>
          <p:nvPr/>
        </p:nvSpPr>
        <p:spPr>
          <a:xfrm>
            <a:off x="3045542" y="2921168"/>
            <a:ext cx="61009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>
                <a:solidFill>
                  <a:schemeClr val="accent1"/>
                </a:solidFill>
              </a:rPr>
              <a:t>THANK YOU !!</a:t>
            </a:r>
          </a:p>
        </p:txBody>
      </p:sp>
    </p:spTree>
    <p:extLst>
      <p:ext uri="{BB962C8B-B14F-4D97-AF65-F5344CB8AC3E}">
        <p14:creationId xmlns:p14="http://schemas.microsoft.com/office/powerpoint/2010/main" val="1436555554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370</TotalTime>
  <Words>374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Online Signature Verification using Machine Learning Algorithms </vt:lpstr>
      <vt:lpstr>Problem &amp; Motivation</vt:lpstr>
      <vt:lpstr>Signature Datasets Overview</vt:lpstr>
      <vt:lpstr>Model Comparison: ML Models &amp; Evaluation</vt:lpstr>
      <vt:lpstr>Results &amp; Observations</vt:lpstr>
      <vt:lpstr>PowerPoint Presentation</vt:lpstr>
      <vt:lpstr>Conclusion &amp; 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Rajat Saini</dc:creator>
  <cp:lastModifiedBy>Rajat Saini</cp:lastModifiedBy>
  <cp:revision>14</cp:revision>
  <dcterms:created xsi:type="dcterms:W3CDTF">2025-05-26T08:50:37Z</dcterms:created>
  <dcterms:modified xsi:type="dcterms:W3CDTF">2025-05-26T15:01:35Z</dcterms:modified>
</cp:coreProperties>
</file>